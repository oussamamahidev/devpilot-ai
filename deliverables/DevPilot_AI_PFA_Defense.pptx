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E84488-0F15-4352-A565-04B478D603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9F7D28-BC77-4FD8-8451-DAF892E8F4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4EF906-A253-454A-AFC2-08A62EAF070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8568000" y="-1296000"/>
            <a:ext cx="5400000" cy="5400000"/>
          </a:xfrm>
          <a:prstGeom prst="ellipse">
            <a:avLst/>
          </a:prstGeom>
          <a:solidFill>
            <a:srgbClr val="11C5E8">
              <a:alpha val="18000"/>
            </a:srgbClr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540000" y="2952000"/>
            <a:ext cx="3780000" cy="3780000"/>
          </a:xfrm>
          <a:prstGeom prst="ellipse">
            <a:avLst/>
          </a:prstGeom>
          <a:solidFill>
            <a:srgbClr val="A78BFA">
              <a:alpha val="12000"/>
            </a:srgbClr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548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450000" y="306000"/>
            <a:ext cx="810000" cy="81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"/>
          <p:cNvPicPr/>
          <p:nvPr/>
        </p:nvPicPr>
        <p:blipFill>
          <a:blip r:embed="rId2"/>
          <a:stretch/>
        </p:blipFill>
        <p:spPr>
          <a:xfrm>
            <a:off x="10116000" y="306000"/>
            <a:ext cx="1404000" cy="99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1530000" y="738000"/>
            <a:ext cx="1188000" cy="223200"/>
          </a:xfrm>
          <a:prstGeom prst="roundRect">
            <a:avLst/>
          </a:prstGeom>
          <a:solidFill>
            <a:srgbClr val="3B82F6">
              <a:alpha val="92000"/>
            </a:srgbClr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558800" y="756000"/>
            <a:ext cx="1130400" cy="78984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PFA · 2025–2026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512000" y="1314000"/>
            <a:ext cx="8460000" cy="687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43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DevPilot AI</a:t>
            </a:r>
            <a:endParaRPr lang="en-US" sz="43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512000" y="2160000"/>
            <a:ext cx="8532000" cy="723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24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Plateforme agentique de RAG</a:t>
            </a:r>
            <a:endParaRPr lang="en-US" sz="24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  <a:p>
            <a:r>
              <a:rPr lang="en-US" sz="24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observable, traçable et explicable</a:t>
            </a:r>
            <a:endParaRPr lang="en-US" sz="24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530000" y="3150000"/>
            <a:ext cx="8100000" cy="471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6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Transformer des documents privés en réponses ancrées, citées et auditables.</a:t>
            </a:r>
            <a:endParaRPr lang="en-US" sz="16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530000" y="3960000"/>
            <a:ext cx="85140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530000" y="4212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RÉALISÉ PAR</a:t>
            </a:r>
            <a:endParaRPr lang="en-US" sz="9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530000" y="44640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Bilal Malih</a:t>
            </a:r>
            <a:endParaRPr lang="en-US" sz="17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  <a:p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Oussama Mahi</a:t>
            </a:r>
            <a:endParaRPr lang="en-US" sz="17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932000" y="4212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ENCADRÉ PAR</a:t>
            </a:r>
            <a:endParaRPr lang="en-US" sz="9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932000" y="4464000"/>
            <a:ext cx="295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Pr. Widad ELOUATAOUI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530000" y="63540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8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ENSIAS · Filière Data and Software Science</a:t>
            </a:r>
            <a:endParaRPr lang="en-US" sz="8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9468000" y="6354000"/>
            <a:ext cx="208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8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19 juin 2026</a:t>
            </a:r>
            <a:endParaRPr lang="en-US" sz="8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FIL CONDUCTEUR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Une soutenance, une démonstration, trois preuves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2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50000" y="1188000"/>
            <a:ext cx="108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8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Notre question : peut-on rendre un système RAG aussi inspectable qu’un service logiciel critique ?</a:t>
            </a:r>
            <a:endParaRPr lang="en-US" sz="18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50000" y="1692000"/>
            <a:ext cx="3420000" cy="2844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450000" y="1692000"/>
            <a:ext cx="39600" cy="2844000"/>
          </a:xfrm>
          <a:prstGeom prst="round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04800" y="1810800"/>
            <a:ext cx="1224000" cy="223200"/>
          </a:xfrm>
          <a:prstGeom prst="roundRect">
            <a:avLst/>
          </a:prstGeom>
          <a:solidFill>
            <a:srgbClr val="11C5E8">
              <a:alpha val="92000"/>
            </a:srgbClr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33600" y="1828800"/>
            <a:ext cx="1166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CONTEXTE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01200" y="2214000"/>
            <a:ext cx="315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1 · COMPRENDRE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01200" y="2538000"/>
            <a:ext cx="3146400" cy="1821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Le problème métier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Pourquoi la recherche classique et les assistants généralistes ne suffisent pas pour une connaissance privée.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384800" y="1692000"/>
            <a:ext cx="3420000" cy="2844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4384800" y="1692000"/>
            <a:ext cx="39600" cy="2844000"/>
          </a:xfrm>
          <a:prstGeom prst="roundRect">
            <a:avLst/>
          </a:prstGeom>
          <a:solidFill>
            <a:srgbClr val="A78BFA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539600" y="1810800"/>
            <a:ext cx="1224000" cy="223200"/>
          </a:xfrm>
          <a:prstGeom prst="roundRect">
            <a:avLst/>
          </a:prstGeom>
          <a:solidFill>
            <a:srgbClr val="A78BFA">
              <a:alpha val="92000"/>
            </a:srgbClr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568400" y="1828800"/>
            <a:ext cx="1166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CONCEPTION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536000" y="2214000"/>
            <a:ext cx="315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2 · CONSTRUIRE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536000" y="2538000"/>
            <a:ext cx="3146400" cy="1821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L’architecture réelle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Ingestion asynchrone, recherche hybride, pipeline spécialisé, sécurité et streaming.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319600" y="1692000"/>
            <a:ext cx="3420000" cy="2844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319600" y="1692000"/>
            <a:ext cx="39600" cy="28440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8474400" y="1810800"/>
            <a:ext cx="1224000" cy="223200"/>
          </a:xfrm>
          <a:prstGeom prst="roundRect">
            <a:avLst/>
          </a:prstGeom>
          <a:solidFill>
            <a:srgbClr val="27D49B">
              <a:alpha val="92000"/>
            </a:srgbClr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503200" y="1828800"/>
            <a:ext cx="1166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RÉSULTATS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470800" y="2214000"/>
            <a:ext cx="315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3 · PROUVER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470800" y="2538000"/>
            <a:ext cx="3146400" cy="1821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La valeur observable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Démonstration, traces, RAGOps, tests versionnés, limites et perspectives.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50000" y="5112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Objectif de la présentation : montrer non seulement la réponse, mais aussi les preuves de sa production.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CONTEXTE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Le problème : la connaissance existe, mais reste difficile à exploiter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3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50000" y="1260000"/>
            <a:ext cx="3348000" cy="33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50000" y="1260000"/>
            <a:ext cx="39600" cy="3348000"/>
          </a:xfrm>
          <a:prstGeom prst="round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601200" y="1389600"/>
            <a:ext cx="307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Connaissance fragmentée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01200" y="1713600"/>
            <a:ext cx="3074400" cy="27180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Spécifications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Documentation d’architecture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Comptes rendus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Procédures internes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Décisions techniques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4417200" y="1260000"/>
            <a:ext cx="3348000" cy="33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417200" y="1260000"/>
            <a:ext cx="39600" cy="3348000"/>
          </a:xfrm>
          <a:prstGeom prst="roundRect">
            <a:avLst/>
          </a:prstGeom>
          <a:solidFill>
            <a:srgbClr val="F7B955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568400" y="1389600"/>
            <a:ext cx="307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Recherche limitée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568400" y="1713600"/>
            <a:ext cx="3074400" cy="27180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Les mots-clés trouvent des chaînes de caractères, mais comprennent mal l’intention, les synonymes et le contexte.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8384400" y="1260000"/>
            <a:ext cx="3348000" cy="33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8384400" y="1260000"/>
            <a:ext cx="39600" cy="3348000"/>
          </a:xfrm>
          <a:prstGeom prst="roundRect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535600" y="1389600"/>
            <a:ext cx="307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Réponse opaque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535600" y="1713600"/>
            <a:ext cx="3074400" cy="27180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Une réponse plausible sans source, sans trace et sans score de qualité est difficile à vérifier et risquée à utiliser.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476000" y="5040000"/>
            <a:ext cx="9216000" cy="612000"/>
          </a:xfrm>
          <a:prstGeom prst="roundRect">
            <a:avLst/>
          </a:prstGeom>
          <a:solidFill>
            <a:srgbClr val="17375E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692000" y="5148000"/>
            <a:ext cx="8784000" cy="291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9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Question directrice : comment centraliser, retrouver, générer, mesurer et auditer ?</a:t>
            </a:r>
            <a:endParaRPr lang="en-US" sz="19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VISION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Notre réponse : une plateforme RAG conçue autour de la preuve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4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50000" y="1188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7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DevPilot AI associe la recherche documentaire à une couche d’exploitation et de gouvernance.</a:t>
            </a:r>
            <a:endParaRPr lang="en-US" sz="17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50000" y="1800000"/>
            <a:ext cx="2520000" cy="280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12000" y="1980000"/>
            <a:ext cx="414000" cy="4140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12000" y="2077200"/>
            <a:ext cx="41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01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12000" y="2556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8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ANCRER</a:t>
            </a:r>
            <a:endParaRPr lang="en-US" sz="18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12000" y="3060000"/>
            <a:ext cx="2160000" cy="78984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Recherche hybride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Contexte privé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Citations [n]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12000" y="4194000"/>
            <a:ext cx="2196000" cy="43200"/>
          </a:xfrm>
          <a:prstGeom prst="round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-6120" rIns="94320" bIns="-6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294000" y="1800000"/>
            <a:ext cx="2520000" cy="280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456000" y="1980000"/>
            <a:ext cx="414000" cy="4140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456000" y="2077200"/>
            <a:ext cx="41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02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456000" y="2556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8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MESURER</a:t>
            </a:r>
            <a:endParaRPr lang="en-US" sz="18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3456000" y="3060000"/>
            <a:ext cx="2160000" cy="10458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Fidélité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Pertinence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Risque d’hallucination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3456000" y="4194000"/>
            <a:ext cx="2196000" cy="432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-6120" rIns="94320" bIns="-6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138000" y="1800000"/>
            <a:ext cx="2520000" cy="280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300000" y="1980000"/>
            <a:ext cx="414000" cy="414000"/>
          </a:xfrm>
          <a:prstGeom prst="ellipse">
            <a:avLst/>
          </a:prstGeom>
          <a:solidFill>
            <a:srgbClr val="A78BFA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300000" y="2077200"/>
            <a:ext cx="41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03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300000" y="2556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8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TRACER</a:t>
            </a:r>
            <a:endParaRPr lang="en-US" sz="18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300000" y="3060000"/>
            <a:ext cx="2160000" cy="78984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Étapes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Chunks &amp; scores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Latences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300000" y="4194000"/>
            <a:ext cx="2196000" cy="43200"/>
          </a:xfrm>
          <a:prstGeom prst="roundRect">
            <a:avLst/>
          </a:prstGeom>
          <a:solidFill>
            <a:srgbClr val="A78BFA"/>
          </a:solidFill>
          <a:ln w="9000">
            <a:solidFill>
              <a:srgbClr val="A78BFA"/>
            </a:solidFill>
            <a:round/>
          </a:ln>
        </p:spPr>
        <p:txBody>
          <a:bodyPr lIns="94320" tIns="-6120" rIns="94320" bIns="-6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982000" y="1800000"/>
            <a:ext cx="2520000" cy="280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9144000" y="1980000"/>
            <a:ext cx="414000" cy="414000"/>
          </a:xfrm>
          <a:prstGeom prst="ellipse">
            <a:avLst/>
          </a:prstGeom>
          <a:solidFill>
            <a:srgbClr val="F7B955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144000" y="2077200"/>
            <a:ext cx="41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04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144000" y="2556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8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GOUVERNER</a:t>
            </a:r>
            <a:endParaRPr lang="en-US" sz="18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9144000" y="3060000"/>
            <a:ext cx="2160000" cy="78984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JWT &amp; RBAC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Workspaces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Audit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144000" y="4194000"/>
            <a:ext cx="2196000" cy="43200"/>
          </a:xfrm>
          <a:prstGeom prst="roundRect">
            <a:avLst/>
          </a:prstGeom>
          <a:solidFill>
            <a:srgbClr val="F7B955"/>
          </a:solidFill>
          <a:ln w="9000">
            <a:solidFill>
              <a:srgbClr val="F7B955"/>
            </a:solidFill>
            <a:round/>
          </a:ln>
        </p:spPr>
        <p:txBody>
          <a:bodyPr lIns="94320" tIns="-6120" rIns="94320" bIns="-6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50000" y="5130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7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Différenciation : la réponse + les sources + le déroulement + le signal de qualité.</a:t>
            </a:r>
            <a:endParaRPr lang="en-US" sz="17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OBJECTIFS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Périmètre livré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5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50000" y="1188000"/>
            <a:ext cx="52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1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FONCTIONNEL</a:t>
            </a:r>
            <a:endParaRPr lang="en-US" sz="11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300000" y="1188000"/>
            <a:ext cx="52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100" b="1" u="none" strike="noStrike">
                <a:solidFill>
                  <a:srgbClr val="27D49B"/>
                </a:solidFill>
                <a:effectLst/>
                <a:uFillTx/>
                <a:latin typeface="Arial"/>
              </a:rPr>
              <a:t>NON FONCTIONNEL</a:t>
            </a:r>
            <a:endParaRPr lang="en-US" sz="1100" b="1" u="none" strike="noStrike">
              <a:solidFill>
                <a:srgbClr val="27D49B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450000" y="1627200"/>
            <a:ext cx="223200" cy="2232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50000" y="1659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74000" y="1584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Authentification et rôles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450000" y="2221200"/>
            <a:ext cx="223200" cy="2232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50000" y="2253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74000" y="2178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Workspaces isolés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450000" y="2815200"/>
            <a:ext cx="223200" cy="2232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50000" y="2847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74000" y="2772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Upload PDF / TXT / Markdown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450000" y="3409200"/>
            <a:ext cx="223200" cy="2232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50000" y="3441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74000" y="3366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Ingestion asynchrone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50000" y="4003200"/>
            <a:ext cx="223200" cy="2232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50000" y="4035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74000" y="3960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Recherche sémantique, lexicale et hybride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50000" y="4597200"/>
            <a:ext cx="223200" cy="2232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50000" y="4629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74000" y="4554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Chat cité, évaluation et historique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450000" y="5191200"/>
            <a:ext cx="223200" cy="2232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50000" y="5223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74000" y="5148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RAGOps, traces et studio d’exécution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300000" y="1627200"/>
            <a:ext cx="223200" cy="2232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300000" y="1659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624000" y="1584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Sécurité : JWT, RBAC, filtres workspace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300000" y="2221200"/>
            <a:ext cx="223200" cy="2232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300000" y="2253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624000" y="2178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Réactivité : API async + SSE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300000" y="2815200"/>
            <a:ext cx="223200" cy="2232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300000" y="2847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624000" y="2772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Résilience : retries et fallbacks ciblés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300000" y="3409200"/>
            <a:ext cx="223200" cy="2232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300000" y="3441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624000" y="3366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Maintenabilité : couches + typage + migrations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300000" y="4003200"/>
            <a:ext cx="223200" cy="2232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300000" y="4035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624000" y="3960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Observabilité : logs, métriques, traces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300000" y="4597200"/>
            <a:ext cx="223200" cy="2232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300000" y="4629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624000" y="4554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Déploiement : Docker Compose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300000" y="5191200"/>
            <a:ext cx="223200" cy="2232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300000" y="5223600"/>
            <a:ext cx="2232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✓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624000" y="5148000"/>
            <a:ext cx="50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Transparence : limites documentées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450000" y="5904000"/>
            <a:ext cx="11016000" cy="324000"/>
          </a:xfrm>
          <a:prstGeom prst="roundRect">
            <a:avLst/>
          </a:prstGeom>
          <a:solidFill>
            <a:srgbClr val="17375E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58000" y="5947200"/>
            <a:ext cx="108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Hors périmètre actuel : haute disponibilité, Kubernetes, multi-tenant SaaS et benchmark RAGAS.</a:t>
            </a:r>
            <a:endParaRPr lang="en-US" sz="12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CONCEPTION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Architecture globale : monolithe modulaire + worker asynchrone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6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50000" y="1170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4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8 services Docker Compose · Ollama sur l’hôte · Gemini externe</a:t>
            </a:r>
            <a:endParaRPr lang="en-US" sz="14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450000" y="2016000"/>
            <a:ext cx="1584000" cy="9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76000" y="2102400"/>
            <a:ext cx="13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Utilisateur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76000" y="2394000"/>
            <a:ext cx="1332000" cy="428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Navigateur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2484000" y="2016000"/>
            <a:ext cx="1800000" cy="9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2610000" y="2102400"/>
            <a:ext cx="15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Next.js 15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2610000" y="2394000"/>
            <a:ext cx="1548000" cy="428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React 19 · UI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4878000" y="1800000"/>
            <a:ext cx="1980000" cy="136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004000" y="1886400"/>
            <a:ext cx="172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FastAPI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004000" y="2178000"/>
            <a:ext cx="1728000" cy="10458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API REST + SSE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Monolithe modulaire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7452000" y="1404000"/>
            <a:ext cx="1800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7578000" y="1490400"/>
            <a:ext cx="15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PostgreSQL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578000" y="1782000"/>
            <a:ext cx="1548000" cy="284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État + traces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7452000" y="2448000"/>
            <a:ext cx="1800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578000" y="2534400"/>
            <a:ext cx="15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Qdrant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7578000" y="2826000"/>
            <a:ext cx="1548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Vecteurs cosine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9900000" y="1404000"/>
            <a:ext cx="169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0026000" y="1490400"/>
            <a:ext cx="144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Redis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0026000" y="1782000"/>
            <a:ext cx="144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Broker Celery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9900000" y="2448000"/>
            <a:ext cx="169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0026000" y="2534400"/>
            <a:ext cx="144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Celery worker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0026000" y="2826000"/>
            <a:ext cx="1440000" cy="284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Ingestion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744000" y="4032000"/>
            <a:ext cx="1800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870000" y="4118400"/>
            <a:ext cx="15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Ollama · hôte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3870000" y="4410000"/>
            <a:ext cx="1548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Embeddings locaux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228000" y="4032000"/>
            <a:ext cx="1800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6354000" y="4118400"/>
            <a:ext cx="1548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Gemini · externe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354000" y="4410000"/>
            <a:ext cx="1548000" cy="284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Génération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9072000" y="4032000"/>
            <a:ext cx="223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9198000" y="4118400"/>
            <a:ext cx="19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2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Prometheus → Grafana</a:t>
            </a:r>
            <a:endParaRPr lang="en-US" sz="12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9198000" y="4410000"/>
            <a:ext cx="1980000" cy="284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Métriques runtime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2034000" y="2484000"/>
            <a:ext cx="450000" cy="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4284000" y="2484000"/>
            <a:ext cx="594000" cy="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 flipV="1">
            <a:off x="6858000" y="1800000"/>
            <a:ext cx="594000" cy="324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6858000" y="2592000"/>
            <a:ext cx="594000" cy="252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 flipV="1">
            <a:off x="6858000" y="1800000"/>
            <a:ext cx="3042000" cy="540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0764000" y="2196000"/>
            <a:ext cx="0" cy="252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 flipH="1">
            <a:off x="4644000" y="3168000"/>
            <a:ext cx="1224000" cy="864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6264000" y="3168000"/>
            <a:ext cx="864000" cy="864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6858000" y="2880000"/>
            <a:ext cx="2214000" cy="1548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50000" y="5454000"/>
            <a:ext cx="10980000" cy="291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Séparation logique forte, sans complexité artificielle de microservices.</a:t>
            </a:r>
            <a:endParaRPr lang="en-US" sz="16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IMPLÉMENTATION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Ingestion documentaire asynchrone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7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450000" y="1170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5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La requête HTTP reste rapide ; le traitement lourd est délégué au worker.</a:t>
            </a:r>
            <a:endParaRPr lang="en-US" sz="15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24000" y="2196000"/>
            <a:ext cx="1620000" cy="144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10400" y="2289600"/>
            <a:ext cx="244800" cy="2448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10400" y="2313000"/>
            <a:ext cx="2448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1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720000" y="2282400"/>
            <a:ext cx="11376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UPLOAD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20000" y="2574000"/>
            <a:ext cx="1137600" cy="932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PDF · TXT · MD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≤ 10 MiB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1944000" y="2916000"/>
            <a:ext cx="306000" cy="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2286000" y="2196000"/>
            <a:ext cx="1620000" cy="144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2372400" y="2289600"/>
            <a:ext cx="244800" cy="244800"/>
          </a:xfrm>
          <a:prstGeom prst="ellipse">
            <a:avLst/>
          </a:prstGeom>
          <a:solidFill>
            <a:srgbClr val="3B82F6"/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2372400" y="2313000"/>
            <a:ext cx="2448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2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2682000" y="2282400"/>
            <a:ext cx="11376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EXTRACTION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2682000" y="2574000"/>
            <a:ext cx="1137600" cy="932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pypdf / UTF-8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906000" y="2916000"/>
            <a:ext cx="306000" cy="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248000" y="2196000"/>
            <a:ext cx="1620000" cy="144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4334400" y="2289600"/>
            <a:ext cx="244800" cy="244800"/>
          </a:xfrm>
          <a:prstGeom prst="ellipse">
            <a:avLst/>
          </a:prstGeom>
          <a:solidFill>
            <a:srgbClr val="A78BFA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334400" y="2313000"/>
            <a:ext cx="2448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3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4644000" y="2282400"/>
            <a:ext cx="11376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NETTOYAGE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4644000" y="2574000"/>
            <a:ext cx="1137600" cy="932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Prose + code fences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5868000" y="2916000"/>
            <a:ext cx="306000" cy="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6210000" y="2196000"/>
            <a:ext cx="1620000" cy="144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296400" y="2289600"/>
            <a:ext cx="244800" cy="244800"/>
          </a:xfrm>
          <a:prstGeom prst="ellipse">
            <a:avLst/>
          </a:prstGeom>
          <a:solidFill>
            <a:srgbClr val="F7B955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296400" y="2313000"/>
            <a:ext cx="2448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4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606000" y="2282400"/>
            <a:ext cx="11376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CHUNKING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6606000" y="2574000"/>
            <a:ext cx="1137600" cy="10458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800 tokens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150 overlap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830000" y="2916000"/>
            <a:ext cx="306000" cy="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8172000" y="2196000"/>
            <a:ext cx="1620000" cy="144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8258400" y="2289600"/>
            <a:ext cx="244800" cy="2448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8258400" y="2313000"/>
            <a:ext cx="2448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5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8568000" y="2282400"/>
            <a:ext cx="11376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EMBEDDING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8568000" y="2574000"/>
            <a:ext cx="1137600" cy="15577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nomic-embed-text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768 dimensions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9792000" y="2916000"/>
            <a:ext cx="306000" cy="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0134000" y="2196000"/>
            <a:ext cx="1620000" cy="144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10220400" y="2289600"/>
            <a:ext cx="244800" cy="2448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0220400" y="2313000"/>
            <a:ext cx="2448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6</a:t>
            </a:r>
            <a:endParaRPr lang="en-US" sz="12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0530000" y="2282400"/>
            <a:ext cx="11376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INDEXATION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530000" y="2574000"/>
            <a:ext cx="1137600" cy="932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Qdrant cosine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864000" y="4284000"/>
            <a:ext cx="10440000" cy="90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044000" y="4428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CYCLE DE STATUT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044000" y="4752000"/>
            <a:ext cx="90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000" b="1" u="none" strike="noStrike">
                <a:solidFill>
                  <a:srgbClr val="27D49B"/>
                </a:solidFill>
                <a:effectLst/>
                <a:uFillTx/>
                <a:latin typeface="Arial"/>
              </a:rPr>
              <a:t>queued  →  processing  →  indexed</a:t>
            </a:r>
            <a:endParaRPr lang="en-US" sz="2000" b="1" u="none" strike="noStrike">
              <a:solidFill>
                <a:srgbClr val="27D49B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856000" y="4705200"/>
            <a:ext cx="223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300" b="1" u="none" strike="noStrike">
                <a:solidFill>
                  <a:srgbClr val="FB7185"/>
                </a:solidFill>
                <a:effectLst/>
                <a:uFillTx/>
                <a:latin typeface="Arial"/>
              </a:rPr>
              <a:t>failed</a:t>
            </a:r>
            <a:endParaRPr lang="en-US" sz="1300" b="1" u="none" strike="noStrike">
              <a:solidFill>
                <a:srgbClr val="FB7185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300" b="1" u="none" strike="noStrike">
                <a:solidFill>
                  <a:srgbClr val="FB7185"/>
                </a:solidFill>
                <a:effectLst/>
                <a:uFillTx/>
                <a:latin typeface="Arial"/>
              </a:rPr>
              <a:t>(retry contrôlé)</a:t>
            </a:r>
            <a:endParaRPr lang="en-US" sz="1300" b="1" u="none" strike="noStrike">
              <a:solidFill>
                <a:srgbClr val="FB7185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3492000" y="5436000"/>
            <a:ext cx="1548000" cy="223200"/>
          </a:xfrm>
          <a:prstGeom prst="roundRect">
            <a:avLst/>
          </a:prstGeom>
          <a:solidFill>
            <a:srgbClr val="F7B955">
              <a:alpha val="92000"/>
            </a:srgbClr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520800" y="5454000"/>
            <a:ext cx="1490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Celery + Redis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5220000" y="5436000"/>
            <a:ext cx="1692000" cy="223200"/>
          </a:xfrm>
          <a:prstGeom prst="roundRect">
            <a:avLst/>
          </a:prstGeom>
          <a:solidFill>
            <a:srgbClr val="27D49B">
              <a:alpha val="92000"/>
            </a:srgbClr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248800" y="5454000"/>
            <a:ext cx="1634400" cy="78984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Batch embeddings = 4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7092000" y="5436000"/>
            <a:ext cx="1584000" cy="223200"/>
          </a:xfrm>
          <a:prstGeom prst="roundRect">
            <a:avLst/>
          </a:prstGeom>
          <a:solidFill>
            <a:srgbClr val="11C5E8">
              <a:alpha val="92000"/>
            </a:srgbClr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120800" y="5454000"/>
            <a:ext cx="1526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Isolation workspace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RAG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Recherche hybride : rappel d’abord, précision ensuite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8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450000" y="2556000"/>
            <a:ext cx="1656000" cy="100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FAFC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576000" y="2642400"/>
            <a:ext cx="140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Question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576000" y="2934000"/>
            <a:ext cx="1404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Requête normalisée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2736000" y="1692000"/>
            <a:ext cx="2520000" cy="118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2862000" y="1778400"/>
            <a:ext cx="2268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2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Recherche sémantique</a:t>
            </a:r>
            <a:endParaRPr lang="en-US" sz="12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2862000" y="2070000"/>
            <a:ext cx="2268000" cy="680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Embedding Ollama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Qdrant · cosine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2736000" y="3384000"/>
            <a:ext cx="2520000" cy="118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862000" y="3470400"/>
            <a:ext cx="226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2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Recherche lexicale</a:t>
            </a:r>
            <a:endParaRPr lang="en-US" sz="12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2862000" y="3762000"/>
            <a:ext cx="2268000" cy="680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PostgreSQL FTS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+ fallback overlap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6084000" y="2556000"/>
            <a:ext cx="2016000" cy="111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6210000" y="2642400"/>
            <a:ext cx="176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Fusion RRF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6210000" y="2934000"/>
            <a:ext cx="1764000" cy="608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k = 60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15 candidats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8892000" y="2556000"/>
            <a:ext cx="2448000" cy="111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9018000" y="2642400"/>
            <a:ext cx="2196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Reranking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9018000" y="2934000"/>
            <a:ext cx="2196000" cy="10458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Heuristique par défaut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Ollama optionnel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Top 5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 flipV="1">
            <a:off x="2106000" y="2268000"/>
            <a:ext cx="630000" cy="684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2106000" y="3168000"/>
            <a:ext cx="630000" cy="720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5256000" y="2268000"/>
            <a:ext cx="828000" cy="684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 flipV="1">
            <a:off x="5256000" y="3240000"/>
            <a:ext cx="828000" cy="64800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8100000" y="3096000"/>
            <a:ext cx="792000" cy="0"/>
          </a:xfrm>
          <a:prstGeom prst="line">
            <a:avLst/>
          </a:prstGeom>
          <a:ln w="162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1764000" y="5004000"/>
            <a:ext cx="9108000" cy="648000"/>
          </a:xfrm>
          <a:prstGeom prst="roundRect">
            <a:avLst/>
          </a:prstGeom>
          <a:solidFill>
            <a:srgbClr val="17375E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944000" y="5122800"/>
            <a:ext cx="8748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Hybrid = Qdrant sémantique + PostgreSQL lexical · filtrés par workspace · fusionnés par rang.</a:t>
            </a:r>
            <a:endParaRPr lang="en-US" sz="15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ORCHESTRATION AGENTIQUE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Pipeline spécialisé en 7 rôles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9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450000" y="1170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5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Les rôles sont orchestrés séquentiellement ; tous ne sont pas des agents LLM autonomes.</a:t>
            </a:r>
            <a:endParaRPr lang="en-US" sz="15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234000" y="2124000"/>
            <a:ext cx="1476000" cy="216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756000" y="1908000"/>
            <a:ext cx="432000" cy="4320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756000" y="2008800"/>
            <a:ext cx="4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1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414000" y="2484000"/>
            <a:ext cx="1116000" cy="223200"/>
          </a:xfrm>
          <a:prstGeom prst="roundRect">
            <a:avLst/>
          </a:prstGeom>
          <a:solidFill>
            <a:srgbClr val="11C5E8">
              <a:alpha val="92000"/>
            </a:srgbClr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42800" y="2502000"/>
            <a:ext cx="10584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RÈGLES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60000" y="2916000"/>
            <a:ext cx="12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Router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360000" y="3348000"/>
            <a:ext cx="1224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2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Classe la requête</a:t>
            </a:r>
            <a:endParaRPr lang="en-US" sz="12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1710000" y="3204000"/>
            <a:ext cx="162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1926000" y="2124000"/>
            <a:ext cx="1476000" cy="216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2448000" y="1908000"/>
            <a:ext cx="432000" cy="4320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2448000" y="2008800"/>
            <a:ext cx="4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2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2106000" y="2484000"/>
            <a:ext cx="1116000" cy="223200"/>
          </a:xfrm>
          <a:prstGeom prst="roundRect">
            <a:avLst/>
          </a:prstGeom>
          <a:solidFill>
            <a:srgbClr val="11C5E8">
              <a:alpha val="92000"/>
            </a:srgbClr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2134800" y="2502000"/>
            <a:ext cx="10584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RÈGLES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2052000" y="2916000"/>
            <a:ext cx="12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Rewriter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2052000" y="3348000"/>
            <a:ext cx="1224000" cy="78984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2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Normalise la recherche</a:t>
            </a:r>
            <a:endParaRPr lang="en-US" sz="12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3402000" y="3204000"/>
            <a:ext cx="162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3618000" y="2124000"/>
            <a:ext cx="1476000" cy="216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4140000" y="1908000"/>
            <a:ext cx="432000" cy="432000"/>
          </a:xfrm>
          <a:prstGeom prst="ellipse">
            <a:avLst/>
          </a:prstGeom>
          <a:solidFill>
            <a:srgbClr val="3B82F6"/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4140000" y="2008800"/>
            <a:ext cx="4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3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3798000" y="2484000"/>
            <a:ext cx="1116000" cy="223200"/>
          </a:xfrm>
          <a:prstGeom prst="roundRect">
            <a:avLst/>
          </a:prstGeom>
          <a:solidFill>
            <a:srgbClr val="3B82F6">
              <a:alpha val="92000"/>
            </a:srgbClr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3826800" y="2502000"/>
            <a:ext cx="10584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SERVICE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3744000" y="2916000"/>
            <a:ext cx="12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Retrieval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3744000" y="3348000"/>
            <a:ext cx="1224000" cy="78984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2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Récupère 15 candidats</a:t>
            </a:r>
            <a:endParaRPr lang="en-US" sz="12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5094000" y="3204000"/>
            <a:ext cx="162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5310000" y="2124000"/>
            <a:ext cx="1476000" cy="216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5832000" y="1908000"/>
            <a:ext cx="432000" cy="432000"/>
          </a:xfrm>
          <a:prstGeom prst="ellipse">
            <a:avLst/>
          </a:prstGeom>
          <a:solidFill>
            <a:srgbClr val="F7B955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5832000" y="2008800"/>
            <a:ext cx="4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4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5490000" y="2484000"/>
            <a:ext cx="1116000" cy="223200"/>
          </a:xfrm>
          <a:prstGeom prst="roundRect">
            <a:avLst/>
          </a:prstGeom>
          <a:solidFill>
            <a:srgbClr val="F7B955">
              <a:alpha val="92000"/>
            </a:srgbClr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5518800" y="2502000"/>
            <a:ext cx="1058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HEURISTIQUE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5436000" y="2916000"/>
            <a:ext cx="12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Reranker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5436000" y="3348000"/>
            <a:ext cx="1224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2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Sélectionne top 5</a:t>
            </a:r>
            <a:endParaRPr lang="en-US" sz="12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6786000" y="3204000"/>
            <a:ext cx="162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002000" y="2124000"/>
            <a:ext cx="1476000" cy="216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7524000" y="1908000"/>
            <a:ext cx="432000" cy="432000"/>
          </a:xfrm>
          <a:prstGeom prst="ellipse">
            <a:avLst/>
          </a:prstGeom>
          <a:solidFill>
            <a:srgbClr val="A78BFA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524000" y="2008800"/>
            <a:ext cx="4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5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7182000" y="2484000"/>
            <a:ext cx="1116000" cy="223200"/>
          </a:xfrm>
          <a:prstGeom prst="roundRect">
            <a:avLst/>
          </a:prstGeom>
          <a:solidFill>
            <a:srgbClr val="A78BFA">
              <a:alpha val="92000"/>
            </a:srgbClr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210800" y="2502000"/>
            <a:ext cx="10584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LLM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128000" y="2916000"/>
            <a:ext cx="12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Generator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7128000" y="3348000"/>
            <a:ext cx="1224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2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Produit la réponse</a:t>
            </a:r>
            <a:endParaRPr lang="en-US" sz="12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8478000" y="3204000"/>
            <a:ext cx="162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8694000" y="2124000"/>
            <a:ext cx="1476000" cy="216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9216000" y="1908000"/>
            <a:ext cx="432000" cy="4320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9216000" y="2008800"/>
            <a:ext cx="4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6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8874000" y="2484000"/>
            <a:ext cx="1116000" cy="223200"/>
          </a:xfrm>
          <a:prstGeom prst="roundRect">
            <a:avLst/>
          </a:prstGeom>
          <a:solidFill>
            <a:srgbClr val="27D49B">
              <a:alpha val="92000"/>
            </a:srgbClr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8902800" y="2502000"/>
            <a:ext cx="1058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LLM / HEUR.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8820000" y="2916000"/>
            <a:ext cx="12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Evaluator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8820000" y="3348000"/>
            <a:ext cx="1224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2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Calcule 4 scores</a:t>
            </a:r>
            <a:endParaRPr lang="en-US" sz="12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10170000" y="3204000"/>
            <a:ext cx="162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10386000" y="2124000"/>
            <a:ext cx="1476000" cy="216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10908000" y="1908000"/>
            <a:ext cx="432000" cy="432000"/>
          </a:xfrm>
          <a:prstGeom prst="ellipse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0908000" y="2008800"/>
            <a:ext cx="4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7</a:t>
            </a:r>
            <a:endParaRPr lang="en-US" sz="13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10566000" y="2484000"/>
            <a:ext cx="1116000" cy="223200"/>
          </a:xfrm>
          <a:prstGeom prst="roundRect">
            <a:avLst/>
          </a:prstGeom>
          <a:solidFill>
            <a:srgbClr val="FB7185">
              <a:alpha val="92000"/>
            </a:srgbClr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10594800" y="2502000"/>
            <a:ext cx="10584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RÈGLES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0512000" y="2916000"/>
            <a:ext cx="12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Corrector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10512000" y="3348000"/>
            <a:ext cx="1224000" cy="78984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2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Garde, extrait ou refuse</a:t>
            </a:r>
            <a:endParaRPr lang="en-US" sz="12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1944000" y="4824000"/>
            <a:ext cx="8280000" cy="792000"/>
          </a:xfrm>
          <a:prstGeom prst="roundRect">
            <a:avLst/>
          </a:prstGeom>
          <a:solidFill>
            <a:srgbClr val="17375E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2160000" y="4986000"/>
            <a:ext cx="7848000" cy="327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Sortie : réponse finale ancrée + citations + évaluation + trace persistée</a:t>
            </a:r>
            <a:endParaRPr lang="en-US" sz="17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SSE + POSTGRESQL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Streaming et traçabilité : chaque réponse laisse une preuve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10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432000" y="1818000"/>
            <a:ext cx="273600" cy="2736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270000" y="2196000"/>
            <a:ext cx="61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start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705600" y="1954800"/>
            <a:ext cx="8064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1573200" y="1818000"/>
            <a:ext cx="273600" cy="2736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411200" y="2196000"/>
            <a:ext cx="61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rewrite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1846800" y="1954800"/>
            <a:ext cx="8064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2714400" y="1818000"/>
            <a:ext cx="273600" cy="273600"/>
          </a:xfrm>
          <a:prstGeom prst="ellipse">
            <a:avLst/>
          </a:prstGeom>
          <a:solidFill>
            <a:srgbClr val="3B82F6"/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2552400" y="2196000"/>
            <a:ext cx="61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retrieval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2988000" y="1954800"/>
            <a:ext cx="8064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3855600" y="1818000"/>
            <a:ext cx="273600" cy="273600"/>
          </a:xfrm>
          <a:prstGeom prst="ellipse">
            <a:avLst/>
          </a:prstGeom>
          <a:solidFill>
            <a:srgbClr val="F7B955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3693600" y="2196000"/>
            <a:ext cx="61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rerank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4129200" y="1954800"/>
            <a:ext cx="8064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4996800" y="1818000"/>
            <a:ext cx="273600" cy="273600"/>
          </a:xfrm>
          <a:prstGeom prst="ellipse">
            <a:avLst/>
          </a:prstGeom>
          <a:solidFill>
            <a:srgbClr val="A78BFA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4834800" y="2196000"/>
            <a:ext cx="61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tokens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5270400" y="1954800"/>
            <a:ext cx="8064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6138000" y="1818000"/>
            <a:ext cx="273600" cy="2736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5976000" y="2196000"/>
            <a:ext cx="61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evaluate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6411600" y="1954800"/>
            <a:ext cx="8064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7279200" y="1818000"/>
            <a:ext cx="273600" cy="273600"/>
          </a:xfrm>
          <a:prstGeom prst="ellipse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7117200" y="2196000"/>
            <a:ext cx="61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correct ?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7552800" y="1954800"/>
            <a:ext cx="8064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8420400" y="1818000"/>
            <a:ext cx="273600" cy="2736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8258400" y="2196000"/>
            <a:ext cx="61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citations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8694000" y="1954800"/>
            <a:ext cx="8064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9561600" y="1818000"/>
            <a:ext cx="273600" cy="273600"/>
          </a:xfrm>
          <a:prstGeom prst="ellipse">
            <a:avLst/>
          </a:prstGeom>
          <a:solidFill>
            <a:srgbClr val="F7FAFC"/>
          </a:solidFill>
          <a:ln w="9000">
            <a:solidFill>
              <a:srgbClr val="F7FAFC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9399600" y="2196000"/>
            <a:ext cx="61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message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9835200" y="1954800"/>
            <a:ext cx="8064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10702800" y="1818000"/>
            <a:ext cx="273600" cy="2736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10540800" y="2196000"/>
            <a:ext cx="61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done</a:t>
            </a:r>
            <a:endParaRPr lang="en-US" sz="100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450000" y="2808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L’assistant message devient l’ancre de la lignée d’exécution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4464000" y="3276000"/>
            <a:ext cx="3240000" cy="9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FAFC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4590000" y="3362400"/>
            <a:ext cx="298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messages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4590000" y="3654000"/>
            <a:ext cx="2988000" cy="428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Question + réponse finale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648000" y="4680000"/>
            <a:ext cx="2124000" cy="82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774000" y="4766400"/>
            <a:ext cx="187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agent_runs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774000" y="5058000"/>
            <a:ext cx="187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rôle · statut · latence · I/O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 flipH="1">
            <a:off x="1710000" y="4212000"/>
            <a:ext cx="4374000" cy="46800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3420000" y="4680000"/>
            <a:ext cx="2124000" cy="82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3546000" y="4766400"/>
            <a:ext cx="187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retrieved_chunks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3546000" y="5058000"/>
            <a:ext cx="187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rang · score · stratégie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 flipH="1">
            <a:off x="4482000" y="4212000"/>
            <a:ext cx="1602000" cy="46800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6516000" y="4680000"/>
            <a:ext cx="2124000" cy="82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6642000" y="4766400"/>
            <a:ext cx="187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evaluations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6642000" y="5058000"/>
            <a:ext cx="1872000" cy="78984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fidélité · pertinence · risque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6084000" y="4212000"/>
            <a:ext cx="1494000" cy="46800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9612000" y="4680000"/>
            <a:ext cx="2124000" cy="82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9738000" y="4766400"/>
            <a:ext cx="187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llm_usage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9738000" y="5058000"/>
            <a:ext cx="187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modèle · tokens · latence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6084000" y="4212000"/>
            <a:ext cx="4590000" cy="46800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CONFIANCE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Sécurité et gouvernance intégrées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11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450000" y="1188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5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La sécurité est appliquée à la route, à la base relationnelle et à la recherche vectorielle.</a:t>
            </a:r>
            <a:endParaRPr lang="en-US" sz="15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450000" y="1764000"/>
            <a:ext cx="2592000" cy="298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450000" y="1764000"/>
            <a:ext cx="39600" cy="2988000"/>
          </a:xfrm>
          <a:prstGeom prst="round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601200" y="1893600"/>
            <a:ext cx="232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IDENTITÉ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601200" y="2217600"/>
            <a:ext cx="2318400" cy="23580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JWT signé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Mot de passe bcrypt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Utilisateur actif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Session côté client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3330000" y="1764000"/>
            <a:ext cx="2592000" cy="298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3330000" y="1764000"/>
            <a:ext cx="39600" cy="2988000"/>
          </a:xfrm>
          <a:prstGeom prst="roundRect">
            <a:avLst/>
          </a:prstGeom>
          <a:solidFill>
            <a:srgbClr val="A78BFA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3481200" y="1893600"/>
            <a:ext cx="232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AUTORISATION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3481200" y="2217600"/>
            <a:ext cx="2318400" cy="23580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Rôles user / admin / super-admin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Dépendances FastAPI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Permissions propriétaire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6210000" y="1764000"/>
            <a:ext cx="2592000" cy="298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6210000" y="1764000"/>
            <a:ext cx="39600" cy="29880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6361200" y="1893600"/>
            <a:ext cx="232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ISOLATION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6361200" y="2217600"/>
            <a:ext cx="2318400" cy="23580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Workspace membership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Filtre PostgreSQL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Payload filter Qdrant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9090000" y="1764000"/>
            <a:ext cx="2592000" cy="298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9090000" y="1764000"/>
            <a:ext cx="39600" cy="2988000"/>
          </a:xfrm>
          <a:prstGeom prst="roundRect">
            <a:avLst/>
          </a:prstGeom>
          <a:solidFill>
            <a:srgbClr val="F7B955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9241200" y="1893600"/>
            <a:ext cx="232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AUDIT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9241200" y="2217600"/>
            <a:ext cx="2318400" cy="23580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Actions administratives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Acteur + cible + raison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IP + user-agent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1764000" y="5220000"/>
            <a:ext cx="9108000" cy="504000"/>
          </a:xfrm>
          <a:prstGeom prst="roundRect">
            <a:avLst/>
          </a:prstGeom>
          <a:solidFill>
            <a:srgbClr val="17375E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1944000" y="5306400"/>
            <a:ext cx="8748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Principe : une requête n’accède jamais à un workspace par simple connaissance de son identifiant.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OBSERVABILITÉ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RAGOps : observer le système logiciel et la qualité RAG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12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450000" y="1512000"/>
            <a:ext cx="3420000" cy="313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450000" y="1512000"/>
            <a:ext cx="39600" cy="3132000"/>
          </a:xfrm>
          <a:prstGeom prst="roundRect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604800" y="1630800"/>
            <a:ext cx="1224000" cy="223200"/>
          </a:xfrm>
          <a:prstGeom prst="roundRect">
            <a:avLst/>
          </a:prstGeom>
          <a:solidFill>
            <a:srgbClr val="FB7185">
              <a:alpha val="92000"/>
            </a:srgbClr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633600" y="1648800"/>
            <a:ext cx="1166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MÉTRIQUES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601200" y="2034000"/>
            <a:ext cx="315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RUNTIME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601200" y="2358000"/>
            <a:ext cx="3146400" cy="210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Prometheus + Grafana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débit HTTP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latence p95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requêtes RAG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tokens LLM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ingestion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4384800" y="1512000"/>
            <a:ext cx="3420000" cy="313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4384800" y="1512000"/>
            <a:ext cx="39600" cy="3132000"/>
          </a:xfrm>
          <a:prstGeom prst="roundRect">
            <a:avLst/>
          </a:prstGeom>
          <a:solidFill>
            <a:srgbClr val="A78BFA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4539600" y="1630800"/>
            <a:ext cx="1224000" cy="223200"/>
          </a:xfrm>
          <a:prstGeom prst="roundRect">
            <a:avLst/>
          </a:prstGeom>
          <a:solidFill>
            <a:srgbClr val="A78BFA">
              <a:alpha val="92000"/>
            </a:srgbClr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4568400" y="1648800"/>
            <a:ext cx="1166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ÉVALUATIONS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4536000" y="2034000"/>
            <a:ext cx="315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QUALITÉ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4536000" y="2358000"/>
            <a:ext cx="3146400" cy="210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PostgreSQL + traces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fidélité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pertinence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précision contexte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hallucination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latence agents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8319600" y="1512000"/>
            <a:ext cx="3420000" cy="313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8319600" y="1512000"/>
            <a:ext cx="39600" cy="31320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8474400" y="1630800"/>
            <a:ext cx="1224000" cy="223200"/>
          </a:xfrm>
          <a:prstGeom prst="roundRect">
            <a:avLst/>
          </a:prstGeom>
          <a:solidFill>
            <a:srgbClr val="27D49B">
              <a:alpha val="92000"/>
            </a:srgbClr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8503200" y="1648800"/>
            <a:ext cx="11664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RAGOPS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8470800" y="2034000"/>
            <a:ext cx="315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OPÉRATIONS</a:t>
            </a:r>
            <a:endParaRPr lang="en-US" sz="16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8470800" y="2358000"/>
            <a:ext cx="3146400" cy="210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Control Tower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couverture embeddings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santé workspaces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cohérence Qdrant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échecs ingestion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• retry contrôlé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1080000" y="5112000"/>
            <a:ext cx="10008000" cy="630000"/>
          </a:xfrm>
          <a:prstGeom prst="roundRect">
            <a:avLst/>
          </a:prstGeom>
          <a:solidFill>
            <a:srgbClr val="17375E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260000" y="5220000"/>
            <a:ext cx="9648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Score santé = 40% couverture + 20% documents + 20% fidélité + 10% faible hallucination + 10% retrieval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LIVE DEMO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Démonstration : de la source à la preuve en 4 minutes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13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450000" y="1170000"/>
            <a:ext cx="109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Scénario conseillé : utiliser un document technique court et une question dont la réponse est clairement localisable.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450000" y="1872000"/>
            <a:ext cx="2520000" cy="27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1386000" y="1638000"/>
            <a:ext cx="648000" cy="648000"/>
          </a:xfrm>
          <a:prstGeom prst="ellipse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386000" y="1800000"/>
            <a:ext cx="6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8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01</a:t>
            </a:r>
            <a:endParaRPr lang="en-US" sz="18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630000" y="2556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PRÉPARER</a:t>
            </a:r>
            <a:endParaRPr lang="en-US" sz="17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02000" y="3060000"/>
            <a:ext cx="2016000" cy="130176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Choisir un workspace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Uploader un PDF/TXT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Attendre : indexed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3294000" y="1872000"/>
            <a:ext cx="2520000" cy="27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4230000" y="1638000"/>
            <a:ext cx="648000" cy="648000"/>
          </a:xfrm>
          <a:prstGeom prst="ellipse">
            <a:avLst/>
          </a:prstGeom>
          <a:solidFill>
            <a:srgbClr val="A78BFA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4230000" y="1800000"/>
            <a:ext cx="6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8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02</a:t>
            </a:r>
            <a:endParaRPr lang="en-US" sz="18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3474000" y="2556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INTERROGER</a:t>
            </a:r>
            <a:endParaRPr lang="en-US" sz="17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3546000" y="3060000"/>
            <a:ext cx="2016000" cy="130176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Poser une question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Observer les tokens SSE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Ouvrir les citations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6138000" y="1872000"/>
            <a:ext cx="2520000" cy="27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7074000" y="1638000"/>
            <a:ext cx="648000" cy="648000"/>
          </a:xfrm>
          <a:prstGeom prst="ellipse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7074000" y="1800000"/>
            <a:ext cx="6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8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03</a:t>
            </a:r>
            <a:endParaRPr lang="en-US" sz="18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6318000" y="2556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EXPLIQUER</a:t>
            </a:r>
            <a:endParaRPr lang="en-US" sz="17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6390000" y="3060000"/>
            <a:ext cx="2016000" cy="130176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Ouvrir AI Execution Studio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Montrer retrieval + rerank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Lire les 4 scores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8982000" y="1872000"/>
            <a:ext cx="2520000" cy="27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9918000" y="1638000"/>
            <a:ext cx="648000" cy="648000"/>
          </a:xfrm>
          <a:prstGeom prst="ellipse">
            <a:avLst/>
          </a:prstGeom>
          <a:solidFill>
            <a:srgbClr val="F7B955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9918000" y="1800000"/>
            <a:ext cx="6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800" b="1" u="none" strike="noStrike">
                <a:solidFill>
                  <a:srgbClr val="071A33"/>
                </a:solidFill>
                <a:effectLst/>
                <a:uFillTx/>
                <a:latin typeface="Arial"/>
              </a:rPr>
              <a:t>04</a:t>
            </a:r>
            <a:endParaRPr lang="en-US" sz="1800" b="1" u="none" strike="noStrike">
              <a:solidFill>
                <a:srgbClr val="071A33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9162000" y="2556000"/>
            <a:ext cx="216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AUDITER</a:t>
            </a:r>
            <a:endParaRPr lang="en-US" sz="17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9234000" y="3060000"/>
            <a:ext cx="2016000" cy="15577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Ouvrir Trace Inspector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Montrer agents + chunks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Finir dans RAGOps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1116000" y="5148000"/>
            <a:ext cx="9900000" cy="612000"/>
          </a:xfrm>
          <a:prstGeom prst="roundRect">
            <a:avLst/>
          </a:prstGeom>
          <a:solidFill>
            <a:srgbClr val="17375E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332000" y="5252400"/>
            <a:ext cx="9468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Plan B soutenance : garder trois captures locales — Chat cité · Trace Inspector · RAGOps Control Tower.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PREUVES D’INGÉNIERIE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Résultats : une chaîne fonctionnelle et vérifiable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14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450000" y="1404000"/>
            <a:ext cx="3240000" cy="9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529200" y="1512000"/>
            <a:ext cx="3081600" cy="327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29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118</a:t>
            </a:r>
            <a:endParaRPr lang="en-US" sz="29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540000" y="1926000"/>
            <a:ext cx="306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15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cas de test backend versionnés</a:t>
            </a:r>
            <a:endParaRPr lang="en-US" sz="115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4464000" y="1404000"/>
            <a:ext cx="3240000" cy="9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4543200" y="1512000"/>
            <a:ext cx="3081600" cy="327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2900" b="1" u="none" strike="noStrike">
                <a:solidFill>
                  <a:srgbClr val="A78BFA"/>
                </a:solidFill>
                <a:effectLst/>
                <a:uFillTx/>
                <a:latin typeface="Arial"/>
              </a:rPr>
              <a:t>39</a:t>
            </a:r>
            <a:endParaRPr lang="en-US" sz="2900" b="1" u="none" strike="noStrike">
              <a:solidFill>
                <a:srgbClr val="A78BFA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4554000" y="1926000"/>
            <a:ext cx="306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15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cas de test frontend versionnés</a:t>
            </a:r>
            <a:endParaRPr lang="en-US" sz="115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8478000" y="1404000"/>
            <a:ext cx="3240000" cy="936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8557200" y="1512000"/>
            <a:ext cx="3081600" cy="327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2900" b="1" u="none" strike="noStrike">
                <a:solidFill>
                  <a:srgbClr val="27D49B"/>
                </a:solidFill>
                <a:effectLst/>
                <a:uFillTx/>
                <a:latin typeface="Arial"/>
              </a:rPr>
              <a:t>36</a:t>
            </a:r>
            <a:endParaRPr lang="en-US" sz="2900" b="1" u="none" strike="noStrike">
              <a:solidFill>
                <a:srgbClr val="27D49B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8568000" y="1926000"/>
            <a:ext cx="306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15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scénarios d’intégration live versionnés</a:t>
            </a:r>
            <a:endParaRPr lang="en-US" sz="115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450000" y="2610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CAPACITÉS DÉMONTRABLES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450000" y="3060000"/>
            <a:ext cx="3384000" cy="90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576000" y="3146400"/>
            <a:ext cx="31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Ingestion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576000" y="3438000"/>
            <a:ext cx="3132000" cy="392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fichier → chunks → vecteurs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4230000" y="3060000"/>
            <a:ext cx="3384000" cy="90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4356000" y="3146400"/>
            <a:ext cx="31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Retrieval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4356000" y="3438000"/>
            <a:ext cx="3132000" cy="392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semantic + keyword + RRF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8010000" y="3060000"/>
            <a:ext cx="3384000" cy="90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8136000" y="3146400"/>
            <a:ext cx="31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Réponse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8136000" y="3438000"/>
            <a:ext cx="3132000" cy="392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streaming + citations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450000" y="4248000"/>
            <a:ext cx="3384000" cy="90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576000" y="4334400"/>
            <a:ext cx="31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Qualité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576000" y="4626000"/>
            <a:ext cx="3132000" cy="392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4 scores + correcteur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4230000" y="4248000"/>
            <a:ext cx="3384000" cy="90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4356000" y="4334400"/>
            <a:ext cx="31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Trace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4356000" y="4626000"/>
            <a:ext cx="3132000" cy="392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agents + chunks + usage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8010000" y="4248000"/>
            <a:ext cx="3384000" cy="90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8136000" y="4334400"/>
            <a:ext cx="31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Ops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8136000" y="4626000"/>
            <a:ext cx="3132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RAGOps + Prometheus/Grafana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450000" y="5688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À joindre au dossier final : capture d’un run pytest/Vitest et mesures de la démonstration réelle.</a:t>
            </a:r>
            <a:endParaRPr lang="en-US" sz="12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MATURITÉ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Limites assumées et perspectives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15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450000" y="1188000"/>
            <a:ext cx="52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100" b="1" u="none" strike="noStrike">
                <a:solidFill>
                  <a:srgbClr val="FB7185"/>
                </a:solidFill>
                <a:effectLst/>
                <a:uFillTx/>
                <a:latin typeface="Arial"/>
              </a:rPr>
              <a:t>AUJOURD’HUI</a:t>
            </a:r>
            <a:endParaRPr lang="en-US" sz="1100" b="1" u="none" strike="noStrike">
              <a:solidFill>
                <a:srgbClr val="FB7185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300000" y="1188000"/>
            <a:ext cx="52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100" b="1" u="none" strike="noStrike">
                <a:solidFill>
                  <a:srgbClr val="27D49B"/>
                </a:solidFill>
                <a:effectLst/>
                <a:uFillTx/>
                <a:latin typeface="Arial"/>
              </a:rPr>
              <a:t>PROCHAINE ÉTAPE</a:t>
            </a:r>
            <a:endParaRPr lang="en-US" sz="1100" b="1" u="none" strike="noStrike">
              <a:solidFill>
                <a:srgbClr val="27D49B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450000" y="1656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450000" y="1656000"/>
            <a:ext cx="43200" cy="450000"/>
          </a:xfrm>
          <a:prstGeom prst="roundRect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630000" y="1720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Docker Compose mono-hôte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450000" y="2304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450000" y="2304000"/>
            <a:ext cx="43200" cy="450000"/>
          </a:xfrm>
          <a:prstGeom prst="roundRect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630000" y="2368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Stockage fichiers local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450000" y="2952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450000" y="2952000"/>
            <a:ext cx="43200" cy="450000"/>
          </a:xfrm>
          <a:prstGeom prst="roundRect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630000" y="3016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Évaluation proxy / LLM judge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450000" y="3600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450000" y="3600000"/>
            <a:ext cx="43200" cy="450000"/>
          </a:xfrm>
          <a:prstGeom prst="roundRect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630000" y="3664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Reranking heuristique par défaut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450000" y="4248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450000" y="4248000"/>
            <a:ext cx="43200" cy="450000"/>
          </a:xfrm>
          <a:prstGeom prst="roundRect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630000" y="4312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Pas de benchmark RAGAS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450000" y="4896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450000" y="4896000"/>
            <a:ext cx="43200" cy="450000"/>
          </a:xfrm>
          <a:prstGeom prst="roundRect">
            <a:avLst/>
          </a:prstGeom>
          <a:solidFill>
            <a:srgbClr val="FB7185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630000" y="4960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Pas de tests E2E navigateur automatisés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6300000" y="1656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6300000" y="1656000"/>
            <a:ext cx="43200" cy="4500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6480000" y="1720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Kubernetes et stockage objet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6300000" y="2304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6300000" y="2304000"/>
            <a:ext cx="43200" cy="4500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6480000" y="2368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Routage multi-LLM dynamique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6300000" y="2952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6300000" y="2952000"/>
            <a:ext cx="43200" cy="4500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480000" y="3016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Cross-encoder de reranking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6300000" y="3600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6300000" y="3600000"/>
            <a:ext cx="43200" cy="4500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6480000" y="3664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Jeu d’évaluation + RAGAS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6300000" y="4248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6300000" y="4248000"/>
            <a:ext cx="43200" cy="4500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6480000" y="4312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Support multimodal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6300000" y="4896000"/>
            <a:ext cx="5220000" cy="450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6300000" y="4896000"/>
            <a:ext cx="43200" cy="450000"/>
          </a:xfrm>
          <a:prstGeom prst="roundRect">
            <a:avLst/>
          </a:prstGeom>
          <a:solidFill>
            <a:srgbClr val="27D49B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6480000" y="4960800"/>
            <a:ext cx="48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Alertes et SLO RAG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1728000" y="5688000"/>
            <a:ext cx="8784000" cy="360000"/>
          </a:xfrm>
          <a:prstGeom prst="roundRect">
            <a:avLst/>
          </a:prstGeom>
          <a:solidFill>
            <a:srgbClr val="17375E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1908000" y="5745600"/>
            <a:ext cx="8424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50" b="1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Une limite clairement mesurée devient une feuille de route, pas une faiblesse cachée.</a:t>
            </a:r>
            <a:endParaRPr lang="en-US" sz="1350" b="1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-1620000" y="-1368000"/>
            <a:ext cx="5220000" cy="5220000"/>
          </a:xfrm>
          <a:prstGeom prst="ellipse">
            <a:avLst/>
          </a:prstGeom>
          <a:solidFill>
            <a:srgbClr val="11C5E8">
              <a:alpha val="12000"/>
            </a:srgbClr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9720000" y="3960000"/>
            <a:ext cx="3960000" cy="3960000"/>
          </a:xfrm>
          <a:prstGeom prst="ellipse">
            <a:avLst/>
          </a:prstGeom>
          <a:solidFill>
            <a:srgbClr val="A78BFA">
              <a:alpha val="12000"/>
            </a:srgbClr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864000" y="648000"/>
            <a:ext cx="100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1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CONCLUSION</a:t>
            </a:r>
            <a:endParaRPr lang="en-US" sz="11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936000" y="1206000"/>
            <a:ext cx="10008000" cy="507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31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DevPilot AI rend le RAG inspectable</a:t>
            </a:r>
            <a:endParaRPr lang="en-US" sz="31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1512000" y="2016000"/>
            <a:ext cx="8856000" cy="327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8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Pas seulement une réponse — une réponse accompagnée de ses preuves.</a:t>
            </a:r>
            <a:endParaRPr lang="en-US" sz="18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1332000" y="2952000"/>
            <a:ext cx="2736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476000" y="3150000"/>
            <a:ext cx="24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8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ANCRÉ</a:t>
            </a:r>
            <a:endParaRPr lang="en-US" sz="18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512000" y="3600000"/>
            <a:ext cx="2376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Documents privés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Recherche hybride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4572000" y="2952000"/>
            <a:ext cx="2736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4716000" y="3150000"/>
            <a:ext cx="24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800" b="1" u="none" strike="noStrike">
                <a:solidFill>
                  <a:srgbClr val="A78BFA"/>
                </a:solidFill>
                <a:effectLst/>
                <a:uFillTx/>
                <a:latin typeface="Arial"/>
              </a:rPr>
              <a:t>AUDITABLE</a:t>
            </a:r>
            <a:endParaRPr lang="en-US" sz="1800" b="1" u="none" strike="noStrike">
              <a:solidFill>
                <a:srgbClr val="A78BFA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4752000" y="3600000"/>
            <a:ext cx="2376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Citations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Trace complète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7812000" y="2952000"/>
            <a:ext cx="2736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7956000" y="3150000"/>
            <a:ext cx="2448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800" b="1" u="none" strike="noStrike">
                <a:solidFill>
                  <a:srgbClr val="27D49B"/>
                </a:solidFill>
                <a:effectLst/>
                <a:uFillTx/>
                <a:latin typeface="Arial"/>
              </a:rPr>
              <a:t>OPÉRABLE</a:t>
            </a:r>
            <a:endParaRPr lang="en-US" sz="1800" b="1" u="none" strike="noStrike">
              <a:solidFill>
                <a:srgbClr val="27D49B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7992000" y="3600000"/>
            <a:ext cx="2376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pPr algn="ctr"/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Évaluation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RAGOps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864000" y="5112000"/>
            <a:ext cx="10440000" cy="291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2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Merci pour votre attention</a:t>
            </a:r>
            <a:endParaRPr lang="en-US" sz="2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4860000" y="5688000"/>
            <a:ext cx="2448000" cy="223200"/>
          </a:xfrm>
          <a:prstGeom prst="roundRect">
            <a:avLst/>
          </a:prstGeom>
          <a:solidFill>
            <a:srgbClr val="3B82F6">
              <a:alpha val="92000"/>
            </a:srgbClr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4888800" y="5706000"/>
            <a:ext cx="23904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Questions &amp; discussion</a:t>
            </a:r>
            <a:endParaRPr lang="en-US" sz="10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792000" y="6516000"/>
            <a:ext cx="180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8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PFA ENSIAS</a:t>
            </a:r>
            <a:endParaRPr lang="en-US" sz="8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9792000" y="65160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8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Bilal Malih · Oussama Mahi</a:t>
            </a:r>
            <a:endParaRPr lang="en-US" sz="8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BACKUP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Annexe · Modèle de données de traçabilité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17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450000" y="1170000"/>
            <a:ext cx="1098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4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11 tables métier : identité, knowledge base, conversation, preuves et gouvernance.</a:t>
            </a:r>
            <a:endParaRPr lang="en-US" sz="14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432000" y="1692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558000" y="1778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users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558000" y="2070000"/>
            <a:ext cx="1620000" cy="284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rôle · activité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3060000" y="1692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3186000" y="1778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workspaces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3186000" y="20700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owner · members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5688000" y="1692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5814000" y="1778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documents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5814000" y="20700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status · storage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8316000" y="1692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3B82F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8442000" y="1778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chunks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8442000" y="20700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content · vector_id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432000" y="3240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558000" y="3326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conversations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558000" y="36180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user · workspace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3060000" y="3240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FAFC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3186000" y="3326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messages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3186000" y="36180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question · réponse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5688000" y="2952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A78BFA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5814000" y="3038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agent_runs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5814000" y="33300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status · latence · I/O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8316000" y="2952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8442000" y="30384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retrieved_chunks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8442000" y="3330000"/>
            <a:ext cx="1620000" cy="284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rang · score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5688000" y="4284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7D49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5814000" y="4370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evaluations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814000" y="4662000"/>
            <a:ext cx="1620000" cy="2844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4 scores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8316000" y="4284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7B95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8442000" y="4370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llm_usage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8442000" y="46620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modèle · tokens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432000" y="4824000"/>
            <a:ext cx="1872000" cy="792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FB7185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558000" y="4910400"/>
            <a:ext cx="162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audit_logs</a:t>
            </a:r>
            <a:endParaRPr lang="en-US" sz="14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558000" y="5202000"/>
            <a:ext cx="162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t">
            <a:noAutofit/>
          </a:bodyPr>
          <a:p>
            <a:r>
              <a:rPr lang="en-US" sz="10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acteur · action · raison</a:t>
            </a:r>
            <a:endParaRPr lang="en-US" sz="10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2304000" y="2088000"/>
            <a:ext cx="7560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4932000" y="2088000"/>
            <a:ext cx="7560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7560000" y="2088000"/>
            <a:ext cx="7560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2304000" y="3636000"/>
            <a:ext cx="756000" cy="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 flipV="1">
            <a:off x="4932000" y="3348000"/>
            <a:ext cx="756000" cy="28800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 flipV="1">
            <a:off x="4932000" y="3348000"/>
            <a:ext cx="3384000" cy="28800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4932000" y="3636000"/>
            <a:ext cx="756000" cy="104400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4932000" y="3636000"/>
            <a:ext cx="3384000" cy="1044000"/>
          </a:xfrm>
          <a:prstGeom prst="line">
            <a:avLst/>
          </a:prstGeom>
          <a:ln w="126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A33"/>
          </a:solidFill>
          <a:ln w="9000">
            <a:solidFill>
              <a:srgbClr val="071A33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1C5E8"/>
          </a:solidFill>
          <a:ln w="9000">
            <a:solidFill>
              <a:srgbClr val="11C5E8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450000" y="118800"/>
            <a:ext cx="6300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95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BACKUP</a:t>
            </a:r>
            <a:endParaRPr lang="en-US" sz="95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450000" y="273600"/>
            <a:ext cx="10440000" cy="579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255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Annexe · Paramètres réels du pipeline</a:t>
            </a:r>
            <a:endParaRPr lang="en-US" sz="255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450000" y="1000800"/>
            <a:ext cx="11286000" cy="0"/>
          </a:xfrm>
          <a:prstGeom prst="line">
            <a:avLst/>
          </a:prstGeom>
          <a:ln w="14400">
            <a:solidFill>
              <a:srgbClr val="294B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tIns="-52200" rIns="97200" bIns="-52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450000" y="6433200"/>
            <a:ext cx="2880000" cy="53388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r>
              <a:rPr lang="en-US" sz="75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DEVPILOT AI · ENSIAS · PFA 2025–2026</a:t>
            </a:r>
            <a:endParaRPr lang="en-US" sz="75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11268000" y="6415200"/>
            <a:ext cx="324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900" b="0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18</a:t>
            </a:r>
            <a:endParaRPr lang="en-US" sz="900" b="0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450000" y="1512000"/>
            <a:ext cx="2520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594000" y="1674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CHUNK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576000" y="1962000"/>
            <a:ext cx="2268000" cy="363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31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800</a:t>
            </a:r>
            <a:endParaRPr lang="en-US" sz="31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594000" y="2538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tokens</a:t>
            </a:r>
            <a:endParaRPr lang="en-US" sz="12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3294000" y="1512000"/>
            <a:ext cx="2520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3438000" y="1674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OVERLAP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3420000" y="1962000"/>
            <a:ext cx="2268000" cy="363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3100" b="1" u="none" strike="noStrike">
                <a:solidFill>
                  <a:srgbClr val="11C5E8"/>
                </a:solidFill>
                <a:effectLst/>
                <a:uFillTx/>
                <a:latin typeface="Arial"/>
              </a:rPr>
              <a:t>150</a:t>
            </a:r>
            <a:endParaRPr lang="en-US" sz="3100" b="1" u="none" strike="noStrike">
              <a:solidFill>
                <a:srgbClr val="11C5E8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3438000" y="2538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tokens</a:t>
            </a:r>
            <a:endParaRPr lang="en-US" sz="12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6138000" y="1512000"/>
            <a:ext cx="2520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6282000" y="1674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EMBEDDING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6264000" y="1962000"/>
            <a:ext cx="2268000" cy="363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3100" b="1" u="none" strike="noStrike">
                <a:solidFill>
                  <a:srgbClr val="27D49B"/>
                </a:solidFill>
                <a:effectLst/>
                <a:uFillTx/>
                <a:latin typeface="Arial"/>
              </a:rPr>
              <a:t>768</a:t>
            </a:r>
            <a:endParaRPr lang="en-US" sz="3100" b="1" u="none" strike="noStrike">
              <a:solidFill>
                <a:srgbClr val="27D49B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6282000" y="2538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dimensions</a:t>
            </a:r>
            <a:endParaRPr lang="en-US" sz="12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8982000" y="1512000"/>
            <a:ext cx="2520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9126000" y="1674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CANDIDATS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9108000" y="1962000"/>
            <a:ext cx="2268000" cy="363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3100" b="1" u="none" strike="noStrike">
                <a:solidFill>
                  <a:srgbClr val="3B82F6"/>
                </a:solidFill>
                <a:effectLst/>
                <a:uFillTx/>
                <a:latin typeface="Arial"/>
              </a:rPr>
              <a:t>15</a:t>
            </a:r>
            <a:endParaRPr lang="en-US" sz="3100" b="1" u="none" strike="noStrike">
              <a:solidFill>
                <a:srgbClr val="3B82F6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9126000" y="2538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retrieval</a:t>
            </a:r>
            <a:endParaRPr lang="en-US" sz="12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450000" y="3384000"/>
            <a:ext cx="2520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594000" y="3546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CONTEXTE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576000" y="3834000"/>
            <a:ext cx="2268000" cy="363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3100" b="1" u="none" strike="noStrike">
                <a:solidFill>
                  <a:srgbClr val="A78BFA"/>
                </a:solidFill>
                <a:effectLst/>
                <a:uFillTx/>
                <a:latin typeface="Arial"/>
              </a:rPr>
              <a:t>5</a:t>
            </a:r>
            <a:endParaRPr lang="en-US" sz="3100" b="1" u="none" strike="noStrike">
              <a:solidFill>
                <a:srgbClr val="A78BFA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594000" y="4410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chunks</a:t>
            </a:r>
            <a:endParaRPr lang="en-US" sz="12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3294000" y="3384000"/>
            <a:ext cx="2520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3438000" y="3546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RRF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3420000" y="3834000"/>
            <a:ext cx="2268000" cy="363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3100" b="1" u="none" strike="noStrike">
                <a:solidFill>
                  <a:srgbClr val="F7B955"/>
                </a:solidFill>
                <a:effectLst/>
                <a:uFillTx/>
                <a:latin typeface="Arial"/>
              </a:rPr>
              <a:t>60</a:t>
            </a:r>
            <a:endParaRPr lang="en-US" sz="3100" b="1" u="none" strike="noStrike">
              <a:solidFill>
                <a:srgbClr val="F7B955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3438000" y="4410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constante k</a:t>
            </a:r>
            <a:endParaRPr lang="en-US" sz="12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6138000" y="3384000"/>
            <a:ext cx="2520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6282000" y="3546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PROMPT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6264000" y="3834000"/>
            <a:ext cx="2268000" cy="363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3100" b="1" u="none" strike="noStrike">
                <a:solidFill>
                  <a:srgbClr val="FB7185"/>
                </a:solidFill>
                <a:effectLst/>
                <a:uFillTx/>
                <a:latin typeface="Arial"/>
              </a:rPr>
              <a:t>6000</a:t>
            </a:r>
            <a:endParaRPr lang="en-US" sz="3100" b="1" u="none" strike="noStrike">
              <a:solidFill>
                <a:srgbClr val="FB7185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6282000" y="4410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caractères max</a:t>
            </a:r>
            <a:endParaRPr lang="en-US" sz="12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8982000" y="3384000"/>
            <a:ext cx="2520000" cy="1548000"/>
          </a:xfrm>
          <a:prstGeom prst="roundRect">
            <a:avLst/>
          </a:prstGeom>
          <a:solidFill>
            <a:srgbClr val="102B50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9126000" y="3546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000" b="1" u="none" strike="noStrike">
                <a:solidFill>
                  <a:srgbClr val="8FA8C2"/>
                </a:solidFill>
                <a:effectLst/>
                <a:uFillTx/>
                <a:latin typeface="Arial"/>
              </a:rPr>
              <a:t>UPLOAD</a:t>
            </a:r>
            <a:endParaRPr lang="en-US" sz="1000" b="1" u="none" strike="noStrike">
              <a:solidFill>
                <a:srgbClr val="8FA8C2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9108000" y="3834000"/>
            <a:ext cx="2268000" cy="36360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31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10</a:t>
            </a:r>
            <a:endParaRPr lang="en-US" sz="31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9126000" y="4410000"/>
            <a:ext cx="2232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rial"/>
              </a:rPr>
              <a:t>MiB max</a:t>
            </a:r>
            <a:endParaRPr lang="en-US" sz="1200" b="1" u="none" strike="noStrike">
              <a:solidFill>
                <a:srgbClr val="F7FAFC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936000" y="5436000"/>
            <a:ext cx="10296000" cy="468000"/>
          </a:xfrm>
          <a:prstGeom prst="roundRect">
            <a:avLst/>
          </a:prstGeom>
          <a:solidFill>
            <a:srgbClr val="17375E"/>
          </a:solidFill>
          <a:ln w="9000">
            <a:solidFill>
              <a:srgbClr val="294B70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1116000" y="5522400"/>
            <a:ext cx="9936000" cy="277920"/>
          </a:xfrm>
          <a:prstGeom prst="rect">
            <a:avLst/>
          </a:prstGeom>
          <a:noFill/>
          <a:ln w="0">
            <a:noFill/>
          </a:ln>
        </p:spPr>
        <p:txBody>
          <a:bodyPr lIns="28800" tIns="14400" rIns="28800" bIns="7200" anchor="ctr">
            <a:noAutofit/>
          </a:bodyPr>
          <a:p>
            <a:pPr algn="ctr"/>
            <a:r>
              <a:rPr lang="en-US" sz="1300" b="0" u="none" strike="noStrike">
                <a:solidFill>
                  <a:srgbClr val="DCE8F5"/>
                </a:solidFill>
                <a:effectLst/>
                <a:uFillTx/>
                <a:latin typeface="Arial"/>
              </a:rPr>
              <a:t>Les valeurs sont configurables ; celles-ci correspondent aux valeurs par défaut du dépôt vérifié.</a:t>
            </a:r>
            <a:endParaRPr lang="en-US" sz="1300" b="0" u="none" strike="noStrike">
              <a:solidFill>
                <a:srgbClr val="DCE8F5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2026-06-19T21:02:54Z</dcterms:created>
  <dc:creator>Bilal Malih &amp; Oussama Mahi</dc:creator>
  <dc:description>Présentation de soutenance générée à partir de l’implémentation vérifiée du dépôt.</dc:description>
  <dc:language>en-US</dc:language>
  <cp:lastModifiedBy/>
  <dcterms:modified xsi:type="dcterms:W3CDTF">2026-06-19T21:02:56Z</dcterms:modified>
  <cp:revision>1</cp:revision>
  <dc:subject>Plateforme agentique RAG observable et traçable</dc:subject>
  <dc:title>DevPilot AI — Soutenance PFA</dc:title>
</cp:coreProperties>
</file>